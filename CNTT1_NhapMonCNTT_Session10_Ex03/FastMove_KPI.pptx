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Đúng hẹn</c:v>
                </c:pt>
              </c:strCache>
            </c:strRef>
          </c:tx>
          <c:spPr>
            <a:solidFill>
              <a:srgbClr val="17365D"/>
            </a:solidFill>
          </c:spPr>
          <c:cat>
            <c:strRef>
              <c:f>Sheet1!$A$2:$A$4</c:f>
              <c:strCache>
                <c:ptCount val="3"/>
                <c:pt idx="0">
                  <c:v>Nội thành</c:v>
                </c:pt>
                <c:pt idx="1">
                  <c:v>Ngoại thành</c:v>
                </c:pt>
                <c:pt idx="2">
                  <c:v>Liên tỉnh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90</c:v>
                </c:pt>
                <c:pt idx="2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Tỷ lệ giao đúng hẹn đạt 89% nhưng tuyến liên tỉnh còn là điểm nghẽn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Shipper nhận đơn đúng trong 3 bước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1. Xác nhận mã vận đơn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2. Kiểm tra tuyến và giá cước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3. Nhận hàng và cập nhật trạng thái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VLOOKUP loại 16 giờ tra cước thủ công mỗi ngày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Mã tuyến được làm sạch trước khi tra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Vùng bảng giá được khóa bằng $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IFERROR chặn lỗi mã chưa có giá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0252D"/>
                </a:solidFill>
                <a:latin typeface="Inter"/>
              </a:defRPr>
            </a:pPr>
            <a:r>
              <a:t>Ưu tiên tháng tới: chuẩn hóa mã vận đơn ngay tại nguồn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Giảm lỗi nhập ký tự thừa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Theo dõi KPI theo tuyến</a:t>
            </a:r>
          </a:p>
          <a:p>
            <a:pPr>
              <a:spcAft>
                <a:spcPts val="1400"/>
              </a:spcAft>
              <a:defRPr sz="3000">
                <a:solidFill>
                  <a:srgbClr val="20252D"/>
                </a:solidFill>
                <a:latin typeface="Inter"/>
              </a:defRPr>
            </a:pPr>
            <a:r>
              <a:t>Cập nhật bảng giá tập trung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