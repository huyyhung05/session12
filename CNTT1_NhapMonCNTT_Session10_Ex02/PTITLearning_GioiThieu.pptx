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Số SV cần theo dõi</c:v>
                </c:pt>
              </c:strCache>
            </c:strRef>
          </c:tx>
          <c:spPr>
            <a:solidFill>
              <a:srgbClr val="F28C28"/>
            </a:solidFill>
          </c:spPr>
          <c:cat>
            <c:strRef>
              <c:f>Sheet1!$A$2:$A$5</c:f>
              <c:strCache>
                <c:ptCount val="4"/>
                <c:pt idx="0">
                  <c:v>CNTT</c:v>
                </c:pt>
                <c:pt idx="1">
                  <c:v>Điện tử</c:v>
                </c:pt>
                <c:pt idx="2">
                  <c:v>Kinh tế</c:v>
                </c:pt>
                <c:pt idx="3">
                  <c:v>Cơ sở chung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</c:v>
                </c:pt>
                <c:pt idx="1">
                  <c:v>18</c:v>
                </c:pt>
                <c:pt idx="2">
                  <c:v>15</c:v>
                </c:pt>
                <c:pt idx="3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Inter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600">
                <a:latin typeface="Inter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Inter"/>
              </a:defRPr>
            </a:pPr>
            <a:r>
              <a:t>Lớp học ảo giúp sinh viên đi từ đăng ký đến hoàn thành trong một luồng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1234440"/>
            <a:ext cx="107899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1EB"/>
                </a:solidFill>
                <a:latin typeface="Inter"/>
              </a:defRPr>
            </a:pPr>
            <a:r>
              <a:t>PTIT-Learning | Flowchart 3 vùng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3261360" cy="1417320"/>
          </a:xfrm>
          <a:prstGeom prst="round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B1F3A"/>
                </a:solidFill>
                <a:latin typeface="Inter"/>
              </a:defRPr>
            </a:pPr>
            <a:r>
              <a:t>ĐĂNG KÝ</a:t>
            </a:r>
          </a:p>
        </p:txBody>
      </p:sp>
      <p:sp>
        <p:nvSpPr>
          <p:cNvPr id="5" name="Chevron 4"/>
          <p:cNvSpPr/>
          <p:nvPr/>
        </p:nvSpPr>
        <p:spPr>
          <a:xfrm>
            <a:off x="4130040" y="2606040"/>
            <a:ext cx="228600" cy="548640"/>
          </a:xfrm>
          <a:prstGeom prst="chevron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04360" y="2194560"/>
            <a:ext cx="3261360" cy="1417320"/>
          </a:xfrm>
          <a:prstGeom prst="round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B1F3A"/>
                </a:solidFill>
                <a:latin typeface="Inter"/>
              </a:defRPr>
            </a:pPr>
            <a:r>
              <a:t>HỌC &amp; ĐIỂM DANH</a:t>
            </a:r>
          </a:p>
        </p:txBody>
      </p:sp>
      <p:sp>
        <p:nvSpPr>
          <p:cNvPr id="7" name="Chevron 6"/>
          <p:cNvSpPr/>
          <p:nvPr/>
        </p:nvSpPr>
        <p:spPr>
          <a:xfrm>
            <a:off x="7711440" y="2606040"/>
            <a:ext cx="228600" cy="548640"/>
          </a:xfrm>
          <a:prstGeom prst="chevron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985760" y="2194560"/>
            <a:ext cx="3261360" cy="1417320"/>
          </a:xfrm>
          <a:prstGeom prst="roundRect">
            <a:avLst/>
          </a:prstGeom>
          <a:solidFill>
            <a:srgbClr val="F28C28"/>
          </a:solidFill>
          <a:ln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B1F3A"/>
                </a:solidFill>
                <a:latin typeface="Inter"/>
              </a:defRPr>
            </a:pPr>
            <a:r>
              <a:t>BÁO CÁO TIẾN ĐỘ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Inter"/>
              </a:defRPr>
            </a:pPr>
            <a:r>
              <a:t>10 chức năng cốt lõi được kiểm soát bằng Navigation Pane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FFFFFF"/>
                </a:solidFill>
                <a:latin typeface="Inter"/>
              </a:defRPr>
            </a:pPr>
            <a:r>
              <a:t>Tạo lớp, đăng ký và điểm danh</a:t>
            </a:r>
          </a:p>
          <a:p>
            <a:pPr>
              <a:spcAft>
                <a:spcPts val="1400"/>
              </a:spcAft>
              <a:defRPr sz="3000">
                <a:solidFill>
                  <a:srgbClr val="FFFFFF"/>
                </a:solidFill>
                <a:latin typeface="Inter"/>
              </a:defRPr>
            </a:pPr>
            <a:r>
              <a:t>Tài liệu, bài tập và thảo luận</a:t>
            </a:r>
          </a:p>
          <a:p>
            <a:pPr>
              <a:spcAft>
                <a:spcPts val="1400"/>
              </a:spcAft>
              <a:defRPr sz="3000">
                <a:solidFill>
                  <a:srgbClr val="FFFFFF"/>
                </a:solidFill>
                <a:latin typeface="Inter"/>
              </a:defRPr>
            </a:pPr>
            <a:r>
              <a:t>Thông báo, chuyên cần và báo cáo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Inter"/>
              </a:defRPr>
            </a:pPr>
            <a:r>
              <a:t>Bộ lọc ưu tiên sinh viên CNTT có chuyên cần dưới 7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822960" y="1554480"/>
          <a:ext cx="1033272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Inter"/>
              </a:defRPr>
            </a:pPr>
            <a:r>
              <a:t>Thiết kế tương phản cao giúp đọc rõ trên máy chiếu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332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>
                <a:solidFill>
                  <a:srgbClr val="FFFFFF"/>
                </a:solidFill>
                <a:latin typeface="Inter"/>
              </a:defRPr>
            </a:pPr>
            <a:r>
              <a:t>Navy làm nền ổn định</a:t>
            </a:r>
          </a:p>
          <a:p>
            <a:pPr>
              <a:spcAft>
                <a:spcPts val="1400"/>
              </a:spcAft>
              <a:defRPr sz="3000">
                <a:solidFill>
                  <a:srgbClr val="FFFFFF"/>
                </a:solidFill>
                <a:latin typeface="Inter"/>
              </a:defRPr>
            </a:pPr>
            <a:r>
              <a:t>Chữ trắng cho nội dung chính</a:t>
            </a:r>
          </a:p>
          <a:p>
            <a:pPr>
              <a:spcAft>
                <a:spcPts val="1400"/>
              </a:spcAft>
              <a:defRPr sz="3000">
                <a:solidFill>
                  <a:srgbClr val="FFFFFF"/>
                </a:solidFill>
                <a:latin typeface="Inter"/>
              </a:defRPr>
            </a:pPr>
            <a:r>
              <a:t>Cam chỉ dùng cho điểm cần chú ý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